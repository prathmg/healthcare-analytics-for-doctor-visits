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8"/>
  </p:notesMasterIdLst>
  <p:handoutMasterIdLst>
    <p:handoutMasterId r:id="rId19"/>
  </p:handoutMasterIdLst>
  <p:sldIdLst>
    <p:sldId id="338" r:id="rId5"/>
    <p:sldId id="327" r:id="rId6"/>
    <p:sldId id="315" r:id="rId7"/>
    <p:sldId id="329" r:id="rId8"/>
    <p:sldId id="302" r:id="rId9"/>
    <p:sldId id="339" r:id="rId10"/>
    <p:sldId id="340" r:id="rId11"/>
    <p:sldId id="341" r:id="rId12"/>
    <p:sldId id="342" r:id="rId13"/>
    <p:sldId id="343" r:id="rId14"/>
    <p:sldId id="344" r:id="rId15"/>
    <p:sldId id="345"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9" d="100"/>
          <a:sy n="79" d="100"/>
        </p:scale>
        <p:origin x="677" y="6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thamesh gangode" userId="9eb3db153564d149" providerId="LiveId" clId="{10C75185-8F21-4AF6-A0B6-DB948D628DAA}"/>
    <pc:docChg chg="modSld">
      <pc:chgData name="prathamesh gangode" userId="9eb3db153564d149" providerId="LiveId" clId="{10C75185-8F21-4AF6-A0B6-DB948D628DAA}" dt="2026-09-22T11:39:23.999" v="13" actId="2711"/>
      <pc:docMkLst>
        <pc:docMk/>
      </pc:docMkLst>
      <pc:sldChg chg="modSp">
        <pc:chgData name="prathamesh gangode" userId="9eb3db153564d149" providerId="LiveId" clId="{10C75185-8F21-4AF6-A0B6-DB948D628DAA}" dt="2026-09-22T11:39:23.999" v="13" actId="2711"/>
        <pc:sldMkLst>
          <pc:docMk/>
          <pc:sldMk cId="1341901065" sldId="302"/>
        </pc:sldMkLst>
        <pc:spChg chg="mod">
          <ac:chgData name="prathamesh gangode" userId="9eb3db153564d149" providerId="LiveId" clId="{10C75185-8F21-4AF6-A0B6-DB948D628DAA}" dt="2026-09-22T11:39:23.999" v="13" actId="2711"/>
          <ac:spMkLst>
            <pc:docMk/>
            <pc:sldMk cId="1341901065" sldId="302"/>
            <ac:spMk id="9" creationId="{FEF304F5-32C5-4869-B185-859B567855A8}"/>
          </ac:spMkLst>
        </pc:spChg>
      </pc:sldChg>
      <pc:sldChg chg="modSp">
        <pc:chgData name="prathamesh gangode" userId="9eb3db153564d149" providerId="LiveId" clId="{10C75185-8F21-4AF6-A0B6-DB948D628DAA}" dt="2026-09-22T11:39:01.249" v="11" actId="20577"/>
        <pc:sldMkLst>
          <pc:docMk/>
          <pc:sldMk cId="3696770303" sldId="315"/>
        </pc:sldMkLst>
        <pc:spChg chg="mod">
          <ac:chgData name="prathamesh gangode" userId="9eb3db153564d149" providerId="LiveId" clId="{10C75185-8F21-4AF6-A0B6-DB948D628DAA}" dt="2026-09-22T11:39:01.249" v="11" actId="20577"/>
          <ac:spMkLst>
            <pc:docMk/>
            <pc:sldMk cId="3696770303" sldId="315"/>
            <ac:spMk id="3" creationId="{EBF2FBC7-3552-4F01-BB27-8BEEE74F7277}"/>
          </ac:spMkLst>
        </pc:spChg>
      </pc:sldChg>
      <pc:sldChg chg="modSp">
        <pc:chgData name="prathamesh gangode" userId="9eb3db153564d149" providerId="LiveId" clId="{10C75185-8F21-4AF6-A0B6-DB948D628DAA}" dt="2026-09-22T11:39:17.558" v="12" actId="2711"/>
        <pc:sldMkLst>
          <pc:docMk/>
          <pc:sldMk cId="48075006" sldId="329"/>
        </pc:sldMkLst>
        <pc:spChg chg="mod">
          <ac:chgData name="prathamesh gangode" userId="9eb3db153564d149" providerId="LiveId" clId="{10C75185-8F21-4AF6-A0B6-DB948D628DAA}" dt="2026-09-22T11:39:17.558" v="12" actId="2711"/>
          <ac:spMkLst>
            <pc:docMk/>
            <pc:sldMk cId="48075006" sldId="329"/>
            <ac:spMk id="4" creationId="{1A4A072B-83C6-4607-AE6A-5AD61CC72C4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9/22/2026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9/22/2026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9/22/2026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9/22/2026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Prathmg/Healthcare-Analytics-for-Doctor-Visits" TargetMode="Externa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00520" y="3322195"/>
            <a:ext cx="12318460" cy="1454085"/>
          </a:xfrm>
        </p:spPr>
        <p:txBody>
          <a:bodyPr>
            <a:noAutofit/>
          </a:bodyPr>
          <a:lstStyle/>
          <a:p>
            <a:r>
              <a:rPr lang="en-US" sz="3000" dirty="0">
                <a:solidFill>
                  <a:srgbClr val="00B050"/>
                </a:solidFill>
                <a:latin typeface="Times New Roman" panose="02020603050405020304" pitchFamily="18" charset="0"/>
                <a:cs typeface="Times New Roman" panose="02020603050405020304" pitchFamily="18" charset="0"/>
              </a:rPr>
              <a:t>Student Name </a:t>
            </a:r>
            <a:r>
              <a:rPr lang="en-US" sz="3000" b="0" dirty="0">
                <a:solidFill>
                  <a:srgbClr val="00B050"/>
                </a:solidFill>
                <a:latin typeface="Times New Roman" panose="02020603050405020304" pitchFamily="18" charset="0"/>
                <a:cs typeface="Times New Roman" panose="02020603050405020304" pitchFamily="18" charset="0"/>
              </a:rPr>
              <a:t>– Gangode Prathmesh Raghunath </a:t>
            </a:r>
          </a:p>
          <a:p>
            <a:r>
              <a:rPr lang="en-US" sz="3000" dirty="0">
                <a:solidFill>
                  <a:srgbClr val="00B050"/>
                </a:solidFill>
                <a:latin typeface="Times New Roman" panose="02020603050405020304" pitchFamily="18" charset="0"/>
                <a:cs typeface="Times New Roman" panose="02020603050405020304" pitchFamily="18" charset="0"/>
              </a:rPr>
              <a:t>AICTE ID </a:t>
            </a:r>
            <a:r>
              <a:rPr lang="en-US" sz="3000" b="0" dirty="0">
                <a:solidFill>
                  <a:srgbClr val="00B050"/>
                </a:solidFill>
                <a:latin typeface="Times New Roman" panose="02020603050405020304" pitchFamily="18" charset="0"/>
                <a:cs typeface="Times New Roman" panose="02020603050405020304" pitchFamily="18" charset="0"/>
              </a:rPr>
              <a:t>– STU68f9f4033b6691761211395</a:t>
            </a:r>
          </a:p>
          <a:p>
            <a:r>
              <a:rPr lang="en-US" sz="3000" b="0" dirty="0">
                <a:solidFill>
                  <a:schemeClr val="tx1"/>
                </a:solidFill>
                <a:latin typeface="Times New Roman" panose="02020603050405020304" pitchFamily="18" charset="0"/>
                <a:cs typeface="Times New Roman" panose="02020603050405020304" pitchFamily="18" charset="0"/>
              </a:rPr>
              <a:t> </a:t>
            </a:r>
            <a:endParaRPr lang="en-IN" sz="3000" b="0"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20321" y="2541830"/>
            <a:ext cx="12111801" cy="743448"/>
          </a:xfrm>
        </p:spPr>
        <p:txBody>
          <a:bodyPr>
            <a:normAutofit/>
          </a:bodyPr>
          <a:lstStyle/>
          <a:p>
            <a:r>
              <a:rPr lang="en-GB" sz="3200" b="1" dirty="0">
                <a:solidFill>
                  <a:srgbClr val="C00000"/>
                </a:solidFill>
                <a:latin typeface="Times New Roman" panose="02020603050405020304" pitchFamily="18" charset="0"/>
                <a:cs typeface="Times New Roman" panose="02020603050405020304" pitchFamily="18" charset="0"/>
              </a:rPr>
              <a:t>Project Title </a:t>
            </a:r>
            <a:r>
              <a:rPr lang="en-GB" sz="3200" dirty="0">
                <a:solidFill>
                  <a:srgbClr val="C00000"/>
                </a:solidFill>
                <a:latin typeface="Times New Roman" panose="02020603050405020304" pitchFamily="18" charset="0"/>
                <a:cs typeface="Times New Roman" panose="02020603050405020304" pitchFamily="18" charset="0"/>
              </a:rPr>
              <a:t>- </a:t>
            </a:r>
            <a:r>
              <a:rPr lang="en-US" sz="3200" dirty="0">
                <a:solidFill>
                  <a:srgbClr val="C00000"/>
                </a:solidFill>
                <a:latin typeface="Times New Roman" panose="02020603050405020304" pitchFamily="18" charset="0"/>
                <a:cs typeface="Times New Roman" panose="02020603050405020304" pitchFamily="18" charset="0"/>
              </a:rPr>
              <a:t>Healthcare Analytics for Doctor Visits</a:t>
            </a:r>
            <a:endParaRPr lang="en-IN" sz="3200" dirty="0">
              <a:solidFill>
                <a:srgbClr val="C00000"/>
              </a:solidFill>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1597513"/>
            <a:ext cx="8700635" cy="4710070"/>
          </a:xfrm>
        </p:spPr>
        <p:txBody>
          <a:bodyPr>
            <a:normAutofit/>
          </a:bodyPr>
          <a:lstStyle/>
          <a:p>
            <a:pPr algn="just">
              <a:lnSpc>
                <a:spcPct val="150000"/>
              </a:lnSpc>
            </a:pPr>
            <a:r>
              <a:rPr lang="en-US" sz="2400" dirty="0">
                <a:latin typeface="Times New Roman" panose="02020603050405020304" pitchFamily="18" charset="0"/>
                <a:cs typeface="Times New Roman" panose="02020603050405020304" pitchFamily="18" charset="0"/>
              </a:rPr>
              <a:t>Healthcare data contains valuable information about patients, health conditions, insurance coverage, and healthcare utilization. However, identifying patterns in doctor visits from raw healthcare data can be difficult. This project aims to analyze healthcare data to understand the factors associated with doctor visits and use statistical analysis and machine learning to identify important patterns and relationships.</a:t>
            </a:r>
            <a:endParaRPr lang="en-IN" sz="24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a:bodyPr>
          <a:lstStyle/>
          <a:p>
            <a:r>
              <a:rPr lang="en-US" sz="4000" dirty="0">
                <a:latin typeface="Times New Roman" panose="02020603050405020304" pitchFamily="18" charset="0"/>
                <a:cs typeface="Times New Roman" panose="02020603050405020304" pitchFamily="18" charset="0"/>
              </a:rPr>
              <a:t>PROBLEM  STATEMENT</a:t>
            </a:r>
            <a:endParaRPr lang="en-IN" sz="4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9338101" y="3207511"/>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9096444" cy="830997"/>
          </a:xfrm>
        </p:spPr>
        <p:txBody>
          <a:bodyPr>
            <a:normAutofit fontScale="90000"/>
          </a:bodyPr>
          <a:lstStyle/>
          <a:p>
            <a:r>
              <a:rPr lang="en-GB" dirty="0">
                <a:latin typeface="Times New Roman" panose="02020603050405020304" pitchFamily="18" charset="0"/>
                <a:cs typeface="Times New Roman" panose="02020603050405020304" pitchFamily="18" charset="0"/>
              </a:rPr>
              <a:t>Project Description</a:t>
            </a:r>
            <a:br>
              <a:rPr lang="en-GB" dirty="0"/>
            </a:br>
            <a:r>
              <a:rPr lang="en-GB" dirty="0"/>
              <a:t>	</a:t>
            </a:r>
            <a:r>
              <a:rPr lang="en-US" sz="2700" b="0" dirty="0">
                <a:latin typeface="Times New Roman" panose="02020603050405020304" pitchFamily="18" charset="0"/>
                <a:cs typeface="Times New Roman" panose="02020603050405020304" pitchFamily="18" charset="0"/>
              </a:rPr>
              <a:t>This project, Healthcare Analytics for Doctor Visits, analyzes a dataset containing, healthcare records and variables related to doctor visits, demographic information, health conditions, income, insurance coverage, and chronic conditions.</a:t>
            </a:r>
            <a:br>
              <a:rPr lang="en-US" sz="2700" b="0" dirty="0">
                <a:latin typeface="Times New Roman" panose="02020603050405020304" pitchFamily="18" charset="0"/>
                <a:cs typeface="Times New Roman" panose="02020603050405020304" pitchFamily="18" charset="0"/>
              </a:rPr>
            </a:br>
            <a:br>
              <a:rPr lang="en-US" sz="2700" b="0" dirty="0">
                <a:latin typeface="Times New Roman" panose="02020603050405020304" pitchFamily="18" charset="0"/>
                <a:cs typeface="Times New Roman" panose="02020603050405020304" pitchFamily="18" charset="0"/>
              </a:rPr>
            </a:br>
            <a:r>
              <a:rPr lang="en-US" sz="2700" b="0" dirty="0">
                <a:latin typeface="Times New Roman" panose="02020603050405020304" pitchFamily="18" charset="0"/>
                <a:cs typeface="Times New Roman" panose="02020603050405020304" pitchFamily="18" charset="0"/>
              </a:rPr>
              <a:t>	The project begins with data loading, cleaning, validation, and exploratory data analysis. Different visualizations are used to study the distribution of doctor visits and relationships between doctor visits, illness, insurance, and other healthcare variables.</a:t>
            </a:r>
            <a:br>
              <a:rPr lang="en-US" dirty="0">
                <a:latin typeface="Times New Roman" panose="02020603050405020304" pitchFamily="18" charset="0"/>
                <a:cs typeface="Times New Roman" panose="02020603050405020304" pitchFamily="18" charset="0"/>
              </a:rPr>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latin typeface="Times New Roman" panose="02020603050405020304" pitchFamily="18" charset="0"/>
                <a:cs typeface="Times New Roman" panose="02020603050405020304" pitchFamily="18" charset="0"/>
              </a:rPr>
              <a:t>WHO ARE THE END USERS?</a:t>
            </a:r>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8C1FA5CC-6511-40C0-BFE3-915D76767084}"/>
              </a:ext>
            </a:extLst>
          </p:cNvPr>
          <p:cNvSpPr>
            <a:spLocks noGrp="1" noChangeArrowheads="1"/>
          </p:cNvSpPr>
          <p:nvPr>
            <p:ph type="body" sz="quarter" idx="12"/>
          </p:nvPr>
        </p:nvSpPr>
        <p:spPr bwMode="auto">
          <a:xfrm>
            <a:off x="721359" y="1502688"/>
            <a:ext cx="8374637"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Healthcare data analysts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Healthcare researchers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Hospitals and healthcare organizations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Healthcare management teams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Students and researchers working in healthcare analytics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science and machine learning learners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latin typeface="Times New Roman" panose="02020603050405020304" pitchFamily="18" charset="0"/>
                <a:cs typeface="Times New Roman" panose="02020603050405020304" pitchFamily="18" charset="0"/>
              </a:rPr>
              <a:t>Technology Used</a:t>
            </a:r>
          </a:p>
        </p:txBody>
      </p:sp>
      <p:sp>
        <p:nvSpPr>
          <p:cNvPr id="3" name="Rectangle 1">
            <a:extLst>
              <a:ext uri="{FF2B5EF4-FFF2-40B4-BE49-F238E27FC236}">
                <a16:creationId xmlns:a16="http://schemas.microsoft.com/office/drawing/2014/main" id="{E02F4D24-6A23-9126-620B-A80931E46ABC}"/>
              </a:ext>
            </a:extLst>
          </p:cNvPr>
          <p:cNvSpPr>
            <a:spLocks noGrp="1" noChangeArrowheads="1"/>
          </p:cNvSpPr>
          <p:nvPr>
            <p:ph type="body" sz="quarter" idx="12"/>
          </p:nvPr>
        </p:nvSpPr>
        <p:spPr bwMode="auto">
          <a:xfrm>
            <a:off x="660399" y="1142504"/>
            <a:ext cx="897819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800100" lvl="2" indent="0" defTabSz="914400" eaLnBrk="0" fontAlgn="base" hangingPunct="0">
              <a:spcBef>
                <a:spcPct val="0"/>
              </a:spcBef>
              <a:spcAft>
                <a:spcPct val="0"/>
              </a:spcAft>
              <a:buClrTx/>
              <a:buSz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a:t>
            </a:r>
          </a:p>
          <a:p>
            <a:pPr marL="800100" lvl="2" indent="0" defTabSz="914400" eaLnBrk="0" fontAlgn="base" hangingPunct="0">
              <a:spcBef>
                <a:spcPct val="0"/>
              </a:spcBef>
              <a:spcAft>
                <a:spcPct val="0"/>
              </a:spcAft>
              <a:buClrTx/>
              <a:buSz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Pandas</a:t>
            </a:r>
          </a:p>
          <a:p>
            <a:pPr marL="800100" lvl="2" indent="0" defTabSz="914400" eaLnBrk="0" fontAlgn="base" hangingPunct="0">
              <a:spcBef>
                <a:spcPct val="0"/>
              </a:spcBef>
              <a:spcAft>
                <a:spcPct val="0"/>
              </a:spcAft>
              <a:buClrTx/>
              <a:buSz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NumPy</a:t>
            </a:r>
          </a:p>
          <a:p>
            <a:pPr marL="800100" lvl="2" indent="0" defTabSz="914400" eaLnBrk="0" fontAlgn="base" hangingPunct="0">
              <a:spcBef>
                <a:spcPct val="0"/>
              </a:spcBef>
              <a:spcAft>
                <a:spcPct val="0"/>
              </a:spcAft>
              <a:buClrTx/>
              <a:buSz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Matplotlib</a:t>
            </a:r>
          </a:p>
          <a:p>
            <a:pPr marL="800100" lvl="2" indent="0" defTabSz="914400" eaLnBrk="0" fontAlgn="base" hangingPunct="0">
              <a:spcBef>
                <a:spcPct val="0"/>
              </a:spcBef>
              <a:spcAft>
                <a:spcPct val="0"/>
              </a:spcAft>
              <a:buClrTx/>
              <a:buSz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Seaborn</a:t>
            </a:r>
          </a:p>
          <a:p>
            <a:pPr marL="800100" lvl="2" indent="0" defTabSz="914400" eaLnBrk="0" fontAlgn="base" hangingPunct="0">
              <a:spcBef>
                <a:spcPct val="0"/>
              </a:spcBef>
              <a:spcAft>
                <a:spcPct val="0"/>
              </a:spcAft>
              <a:buClrTx/>
              <a:buSz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Google </a:t>
            </a:r>
            <a:r>
              <a:rPr kumimoji="0" lang="en-US" altLang="en-US" sz="24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Colab</a:t>
            </a: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2" indent="0" defTabSz="914400" eaLnBrk="0" fontAlgn="base" hangingPunct="0">
              <a:spcBef>
                <a:spcPct val="0"/>
              </a:spcBef>
              <a:spcAft>
                <a:spcPct val="0"/>
              </a:spcAft>
              <a:buClrTx/>
              <a:buSzTx/>
              <a:buFontTx/>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Poisson Regression </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501940" y="347097"/>
            <a:ext cx="2981643" cy="830997"/>
          </a:xfrm>
        </p:spPr>
        <p:txBody>
          <a:bodyPr>
            <a:normAutofit/>
          </a:bodyPr>
          <a:lstStyle/>
          <a:p>
            <a:r>
              <a:rPr lang="en-GB" sz="2800" dirty="0">
                <a:latin typeface="Times New Roman" panose="02020603050405020304" pitchFamily="18" charset="0"/>
                <a:cs typeface="Times New Roman" panose="02020603050405020304" pitchFamily="18" charset="0"/>
              </a:rPr>
              <a:t>RESULTS </a:t>
            </a:r>
            <a:endParaRPr lang="en-IN" sz="28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2"/>
            <a:ext cx="9124776" cy="4618911"/>
          </a:xfrm>
        </p:spPr>
        <p:txBody>
          <a:bodyPr/>
          <a:lstStyle/>
          <a:p>
            <a:pPr marL="0" indent="0">
              <a:buNone/>
            </a:pPr>
            <a:endParaRPr lang="en-IN" dirty="0"/>
          </a:p>
        </p:txBody>
      </p:sp>
      <p:pic>
        <p:nvPicPr>
          <p:cNvPr id="3" name="Picture 2">
            <a:extLst>
              <a:ext uri="{FF2B5EF4-FFF2-40B4-BE49-F238E27FC236}">
                <a16:creationId xmlns:a16="http://schemas.microsoft.com/office/drawing/2014/main" id="{9CFA9064-8A68-E30D-6757-0AFAC5A81D65}"/>
              </a:ext>
            </a:extLst>
          </p:cNvPr>
          <p:cNvPicPr>
            <a:picLocks noChangeAspect="1"/>
          </p:cNvPicPr>
          <p:nvPr/>
        </p:nvPicPr>
        <p:blipFill>
          <a:blip r:embed="rId4"/>
          <a:stretch>
            <a:fillRect/>
          </a:stretch>
        </p:blipFill>
        <p:spPr>
          <a:xfrm>
            <a:off x="675957" y="807397"/>
            <a:ext cx="10272640" cy="5340483"/>
          </a:xfrm>
          <a:prstGeom prst="rect">
            <a:avLst/>
          </a:prstGeom>
          <a:ln>
            <a:solidFill>
              <a:schemeClr val="tx1"/>
            </a:solidFill>
          </a:ln>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90465-0E90-AC15-A6D1-B2462C198885}"/>
              </a:ext>
            </a:extLst>
          </p:cNvPr>
          <p:cNvSpPr>
            <a:spLocks noGrp="1"/>
          </p:cNvSpPr>
          <p:nvPr>
            <p:ph type="ctrTitle"/>
          </p:nvPr>
        </p:nvSpPr>
        <p:spPr>
          <a:xfrm>
            <a:off x="1038936" y="72134"/>
            <a:ext cx="7766936" cy="379379"/>
          </a:xfrm>
        </p:spPr>
        <p:txBody>
          <a:bodyPr/>
          <a:lstStyle/>
          <a:p>
            <a:pPr algn="l"/>
            <a:r>
              <a:rPr lang="en-US" sz="3200" dirty="0">
                <a:solidFill>
                  <a:schemeClr val="tx1"/>
                </a:solidFill>
                <a:latin typeface="Times New Roman" panose="02020603050405020304" pitchFamily="18" charset="0"/>
                <a:cs typeface="Times New Roman" panose="02020603050405020304" pitchFamily="18" charset="0"/>
              </a:rPr>
              <a:t>Results</a:t>
            </a:r>
          </a:p>
        </p:txBody>
      </p:sp>
      <p:sp>
        <p:nvSpPr>
          <p:cNvPr id="3" name="Subtitle 2">
            <a:extLst>
              <a:ext uri="{FF2B5EF4-FFF2-40B4-BE49-F238E27FC236}">
                <a16:creationId xmlns:a16="http://schemas.microsoft.com/office/drawing/2014/main" id="{2A5E7729-67B7-8AB5-2FB0-8D6239420361}"/>
              </a:ext>
            </a:extLst>
          </p:cNvPr>
          <p:cNvSpPr>
            <a:spLocks noGrp="1"/>
          </p:cNvSpPr>
          <p:nvPr>
            <p:ph type="subTitle" idx="1"/>
          </p:nvPr>
        </p:nvSpPr>
        <p:spPr>
          <a:xfrm>
            <a:off x="1165395" y="379379"/>
            <a:ext cx="9778221" cy="6099242"/>
          </a:xfrm>
        </p:spPr>
        <p:txBody>
          <a:bodyPr/>
          <a:lstStyle/>
          <a:p>
            <a:endParaRPr lang="en-US" dirty="0"/>
          </a:p>
        </p:txBody>
      </p:sp>
      <p:sp>
        <p:nvSpPr>
          <p:cNvPr id="4" name="Slide Number Placeholder 3">
            <a:extLst>
              <a:ext uri="{FF2B5EF4-FFF2-40B4-BE49-F238E27FC236}">
                <a16:creationId xmlns:a16="http://schemas.microsoft.com/office/drawing/2014/main" id="{2502E291-2716-90D0-2651-64FC26134A99}"/>
              </a:ext>
            </a:extLst>
          </p:cNvPr>
          <p:cNvSpPr>
            <a:spLocks noGrp="1"/>
          </p:cNvSpPr>
          <p:nvPr>
            <p:ph type="sldNum" sz="quarter" idx="12"/>
          </p:nvPr>
        </p:nvSpPr>
        <p:spPr/>
        <p:txBody>
          <a:bodyPr/>
          <a:lstStyle/>
          <a:p>
            <a:fld id="{D57F1E4F-1CFF-5643-939E-217C01CDF565}" type="slidenum">
              <a:rPr lang="en-US" smtClean="0"/>
              <a:pPr/>
              <a:t>7</a:t>
            </a:fld>
            <a:endParaRPr lang="en-US" dirty="0"/>
          </a:p>
        </p:txBody>
      </p:sp>
      <p:pic>
        <p:nvPicPr>
          <p:cNvPr id="6" name="Picture 5">
            <a:extLst>
              <a:ext uri="{FF2B5EF4-FFF2-40B4-BE49-F238E27FC236}">
                <a16:creationId xmlns:a16="http://schemas.microsoft.com/office/drawing/2014/main" id="{99EA4081-54B2-25DC-09A6-B1D4D78BB619}"/>
              </a:ext>
            </a:extLst>
          </p:cNvPr>
          <p:cNvPicPr>
            <a:picLocks noChangeAspect="1"/>
          </p:cNvPicPr>
          <p:nvPr/>
        </p:nvPicPr>
        <p:blipFill>
          <a:blip r:embed="rId2"/>
          <a:stretch>
            <a:fillRect/>
          </a:stretch>
        </p:blipFill>
        <p:spPr>
          <a:xfrm>
            <a:off x="1165394" y="408319"/>
            <a:ext cx="9778221" cy="6041362"/>
          </a:xfrm>
          <a:prstGeom prst="rect">
            <a:avLst/>
          </a:prstGeom>
          <a:ln>
            <a:solidFill>
              <a:schemeClr val="tx1"/>
            </a:solidFill>
          </a:ln>
        </p:spPr>
      </p:pic>
    </p:spTree>
    <p:extLst>
      <p:ext uri="{BB962C8B-B14F-4D97-AF65-F5344CB8AC3E}">
        <p14:creationId xmlns:p14="http://schemas.microsoft.com/office/powerpoint/2010/main" val="1346374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44180-9005-A0D3-F787-3B0B171AD4E8}"/>
              </a:ext>
            </a:extLst>
          </p:cNvPr>
          <p:cNvSpPr>
            <a:spLocks noGrp="1"/>
          </p:cNvSpPr>
          <p:nvPr>
            <p:ph type="ctrTitle"/>
          </p:nvPr>
        </p:nvSpPr>
        <p:spPr>
          <a:xfrm>
            <a:off x="1254148" y="262647"/>
            <a:ext cx="7766936" cy="305685"/>
          </a:xfrm>
        </p:spPr>
        <p:txBody>
          <a:bodyPr/>
          <a:lstStyle/>
          <a:p>
            <a:pPr algn="l"/>
            <a:r>
              <a:rPr lang="en-US" sz="3200" dirty="0">
                <a:solidFill>
                  <a:schemeClr val="tx1"/>
                </a:solidFill>
                <a:latin typeface="Times New Roman" panose="02020603050405020304" pitchFamily="18" charset="0"/>
                <a:cs typeface="Times New Roman" panose="02020603050405020304" pitchFamily="18" charset="0"/>
              </a:rPr>
              <a:t>Results</a:t>
            </a:r>
            <a:endParaRPr lang="en-US"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E8D6C7B-C3A3-3BC5-A0B3-C651AE7C768F}"/>
              </a:ext>
            </a:extLst>
          </p:cNvPr>
          <p:cNvSpPr>
            <a:spLocks noGrp="1"/>
          </p:cNvSpPr>
          <p:nvPr>
            <p:ph type="subTitle" idx="1"/>
          </p:nvPr>
        </p:nvSpPr>
        <p:spPr>
          <a:xfrm>
            <a:off x="1254148" y="863204"/>
            <a:ext cx="9971571" cy="5732149"/>
          </a:xfrm>
        </p:spPr>
        <p:txBody>
          <a:bodyPr/>
          <a:lstStyle/>
          <a:p>
            <a:endParaRPr lang="en-US" dirty="0"/>
          </a:p>
        </p:txBody>
      </p:sp>
      <p:sp>
        <p:nvSpPr>
          <p:cNvPr id="4" name="Slide Number Placeholder 3">
            <a:extLst>
              <a:ext uri="{FF2B5EF4-FFF2-40B4-BE49-F238E27FC236}">
                <a16:creationId xmlns:a16="http://schemas.microsoft.com/office/drawing/2014/main" id="{44CCDFA3-4AEE-B5B1-DEAE-2B71CC30F782}"/>
              </a:ext>
            </a:extLst>
          </p:cNvPr>
          <p:cNvSpPr>
            <a:spLocks noGrp="1"/>
          </p:cNvSpPr>
          <p:nvPr>
            <p:ph type="sldNum" sz="quarter" idx="12"/>
          </p:nvPr>
        </p:nvSpPr>
        <p:spPr/>
        <p:txBody>
          <a:bodyPr/>
          <a:lstStyle/>
          <a:p>
            <a:fld id="{D57F1E4F-1CFF-5643-939E-217C01CDF565}" type="slidenum">
              <a:rPr lang="en-US" smtClean="0"/>
              <a:pPr/>
              <a:t>8</a:t>
            </a:fld>
            <a:endParaRPr lang="en-US" dirty="0"/>
          </a:p>
        </p:txBody>
      </p:sp>
      <p:pic>
        <p:nvPicPr>
          <p:cNvPr id="6" name="Picture 5">
            <a:extLst>
              <a:ext uri="{FF2B5EF4-FFF2-40B4-BE49-F238E27FC236}">
                <a16:creationId xmlns:a16="http://schemas.microsoft.com/office/drawing/2014/main" id="{67A4D882-4942-4D4F-8674-1F5270353952}"/>
              </a:ext>
            </a:extLst>
          </p:cNvPr>
          <p:cNvPicPr>
            <a:picLocks noChangeAspect="1"/>
          </p:cNvPicPr>
          <p:nvPr/>
        </p:nvPicPr>
        <p:blipFill>
          <a:blip r:embed="rId2"/>
          <a:stretch>
            <a:fillRect/>
          </a:stretch>
        </p:blipFill>
        <p:spPr>
          <a:xfrm>
            <a:off x="1254148" y="863203"/>
            <a:ext cx="9971571" cy="5732149"/>
          </a:xfrm>
          <a:prstGeom prst="rect">
            <a:avLst/>
          </a:prstGeom>
          <a:ln>
            <a:solidFill>
              <a:schemeClr val="tx1"/>
            </a:solidFill>
          </a:ln>
        </p:spPr>
      </p:pic>
    </p:spTree>
    <p:extLst>
      <p:ext uri="{BB962C8B-B14F-4D97-AF65-F5344CB8AC3E}">
        <p14:creationId xmlns:p14="http://schemas.microsoft.com/office/powerpoint/2010/main" val="3651427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79828-572B-B5F0-D688-E0A3D7F59513}"/>
              </a:ext>
            </a:extLst>
          </p:cNvPr>
          <p:cNvSpPr>
            <a:spLocks noGrp="1"/>
          </p:cNvSpPr>
          <p:nvPr>
            <p:ph type="ctrTitle"/>
          </p:nvPr>
        </p:nvSpPr>
        <p:spPr>
          <a:xfrm>
            <a:off x="1312513" y="0"/>
            <a:ext cx="7766936" cy="451513"/>
          </a:xfrm>
        </p:spPr>
        <p:txBody>
          <a:bodyPr/>
          <a:lstStyle/>
          <a:p>
            <a:pPr algn="l"/>
            <a:r>
              <a:rPr lang="en-US" sz="3200" dirty="0">
                <a:solidFill>
                  <a:schemeClr val="tx1"/>
                </a:solidFill>
                <a:latin typeface="Times New Roman" panose="02020603050405020304" pitchFamily="18" charset="0"/>
                <a:cs typeface="Times New Roman" panose="02020603050405020304" pitchFamily="18" charset="0"/>
              </a:rPr>
              <a:t>Results</a:t>
            </a:r>
            <a:endParaRPr lang="en-US" sz="36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6F62A01-869C-3001-3B3E-EC2DBC01EEE2}"/>
              </a:ext>
            </a:extLst>
          </p:cNvPr>
          <p:cNvSpPr>
            <a:spLocks noGrp="1"/>
          </p:cNvSpPr>
          <p:nvPr>
            <p:ph type="subTitle" idx="1"/>
          </p:nvPr>
        </p:nvSpPr>
        <p:spPr>
          <a:xfrm>
            <a:off x="1312512" y="519693"/>
            <a:ext cx="10166125" cy="5886794"/>
          </a:xfrm>
        </p:spPr>
        <p:txBody>
          <a:bodyPr/>
          <a:lstStyle/>
          <a:p>
            <a:endParaRPr lang="en-US" dirty="0"/>
          </a:p>
        </p:txBody>
      </p:sp>
      <p:sp>
        <p:nvSpPr>
          <p:cNvPr id="4" name="Slide Number Placeholder 3">
            <a:extLst>
              <a:ext uri="{FF2B5EF4-FFF2-40B4-BE49-F238E27FC236}">
                <a16:creationId xmlns:a16="http://schemas.microsoft.com/office/drawing/2014/main" id="{F8F0B383-C453-4656-4E84-6663CC77619A}"/>
              </a:ext>
            </a:extLst>
          </p:cNvPr>
          <p:cNvSpPr>
            <a:spLocks noGrp="1"/>
          </p:cNvSpPr>
          <p:nvPr>
            <p:ph type="sldNum" sz="quarter" idx="12"/>
          </p:nvPr>
        </p:nvSpPr>
        <p:spPr/>
        <p:txBody>
          <a:bodyPr/>
          <a:lstStyle/>
          <a:p>
            <a:fld id="{D57F1E4F-1CFF-5643-939E-217C01CDF565}" type="slidenum">
              <a:rPr lang="en-US" smtClean="0"/>
              <a:pPr/>
              <a:t>9</a:t>
            </a:fld>
            <a:endParaRPr lang="en-US" dirty="0"/>
          </a:p>
        </p:txBody>
      </p:sp>
      <p:pic>
        <p:nvPicPr>
          <p:cNvPr id="6" name="Picture 5">
            <a:extLst>
              <a:ext uri="{FF2B5EF4-FFF2-40B4-BE49-F238E27FC236}">
                <a16:creationId xmlns:a16="http://schemas.microsoft.com/office/drawing/2014/main" id="{CED0E828-9FD7-B66E-AD39-B35A214DB919}"/>
              </a:ext>
            </a:extLst>
          </p:cNvPr>
          <p:cNvPicPr>
            <a:picLocks noChangeAspect="1"/>
          </p:cNvPicPr>
          <p:nvPr/>
        </p:nvPicPr>
        <p:blipFill>
          <a:blip r:embed="rId2"/>
          <a:stretch>
            <a:fillRect/>
          </a:stretch>
        </p:blipFill>
        <p:spPr>
          <a:xfrm>
            <a:off x="1312512" y="519693"/>
            <a:ext cx="10166125" cy="5886794"/>
          </a:xfrm>
          <a:prstGeom prst="rect">
            <a:avLst/>
          </a:prstGeom>
          <a:ln>
            <a:solidFill>
              <a:schemeClr val="tx1"/>
            </a:solidFill>
          </a:ln>
        </p:spPr>
      </p:pic>
    </p:spTree>
    <p:extLst>
      <p:ext uri="{BB962C8B-B14F-4D97-AF65-F5344CB8AC3E}">
        <p14:creationId xmlns:p14="http://schemas.microsoft.com/office/powerpoint/2010/main" val="995594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93084-E466-F172-46EE-F8C101D57338}"/>
              </a:ext>
            </a:extLst>
          </p:cNvPr>
          <p:cNvSpPr>
            <a:spLocks noGrp="1"/>
          </p:cNvSpPr>
          <p:nvPr>
            <p:ph type="title"/>
          </p:nvPr>
        </p:nvSpPr>
        <p:spPr>
          <a:xfrm>
            <a:off x="677334" y="0"/>
            <a:ext cx="8596668" cy="451513"/>
          </a:xfrm>
        </p:spPr>
        <p:txBody>
          <a:bodyPr>
            <a:normAutofit fontScale="90000"/>
          </a:bodyPr>
          <a:lstStyle/>
          <a:p>
            <a:r>
              <a:rPr lang="en-US" dirty="0">
                <a:solidFill>
                  <a:schemeClr val="tx1"/>
                </a:solidFill>
                <a:latin typeface="Times New Roman" panose="02020603050405020304" pitchFamily="18" charset="0"/>
                <a:cs typeface="Times New Roman" panose="02020603050405020304" pitchFamily="18" charset="0"/>
              </a:rPr>
              <a:t>Results</a:t>
            </a:r>
            <a:endParaRPr lang="en-US"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35F1E4E5-2199-38FE-B672-8A83D310D257}"/>
              </a:ext>
            </a:extLst>
          </p:cNvPr>
          <p:cNvPicPr>
            <a:picLocks noGrp="1" noChangeAspect="1"/>
          </p:cNvPicPr>
          <p:nvPr>
            <p:ph idx="1"/>
          </p:nvPr>
        </p:nvPicPr>
        <p:blipFill>
          <a:blip r:embed="rId2"/>
          <a:stretch>
            <a:fillRect/>
          </a:stretch>
        </p:blipFill>
        <p:spPr>
          <a:xfrm>
            <a:off x="873147" y="736127"/>
            <a:ext cx="9939866" cy="5402026"/>
          </a:xfrm>
          <a:ln>
            <a:solidFill>
              <a:schemeClr val="tx1"/>
            </a:solidFill>
          </a:ln>
        </p:spPr>
      </p:pic>
      <p:sp>
        <p:nvSpPr>
          <p:cNvPr id="4" name="Slide Number Placeholder 3">
            <a:extLst>
              <a:ext uri="{FF2B5EF4-FFF2-40B4-BE49-F238E27FC236}">
                <a16:creationId xmlns:a16="http://schemas.microsoft.com/office/drawing/2014/main" id="{6935F610-8C6A-47EF-8F5B-D106F6EB72BB}"/>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Tree>
    <p:extLst>
      <p:ext uri="{BB962C8B-B14F-4D97-AF65-F5344CB8AC3E}">
        <p14:creationId xmlns:p14="http://schemas.microsoft.com/office/powerpoint/2010/main" val="28809013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E913C-2B00-019A-F1C4-3D9DA76298D1}"/>
              </a:ext>
            </a:extLst>
          </p:cNvPr>
          <p:cNvSpPr>
            <a:spLocks noGrp="1"/>
          </p:cNvSpPr>
          <p:nvPr>
            <p:ph type="ctrTitle"/>
          </p:nvPr>
        </p:nvSpPr>
        <p:spPr>
          <a:xfrm>
            <a:off x="1165396" y="63966"/>
            <a:ext cx="7766936" cy="387547"/>
          </a:xfrm>
        </p:spPr>
        <p:txBody>
          <a:bodyPr/>
          <a:lstStyle/>
          <a:p>
            <a:pPr algn="l"/>
            <a:r>
              <a:rPr lang="en-US" sz="3200" dirty="0">
                <a:solidFill>
                  <a:schemeClr val="tx1"/>
                </a:solidFill>
                <a:latin typeface="Times New Roman" panose="02020603050405020304" pitchFamily="18" charset="0"/>
                <a:cs typeface="Times New Roman" panose="02020603050405020304" pitchFamily="18" charset="0"/>
              </a:rPr>
              <a:t>Results</a:t>
            </a:r>
          </a:p>
        </p:txBody>
      </p:sp>
      <p:sp>
        <p:nvSpPr>
          <p:cNvPr id="3" name="Subtitle 2">
            <a:extLst>
              <a:ext uri="{FF2B5EF4-FFF2-40B4-BE49-F238E27FC236}">
                <a16:creationId xmlns:a16="http://schemas.microsoft.com/office/drawing/2014/main" id="{8D728322-2B12-18A5-0969-7E10145BC217}"/>
              </a:ext>
            </a:extLst>
          </p:cNvPr>
          <p:cNvSpPr>
            <a:spLocks noGrp="1"/>
          </p:cNvSpPr>
          <p:nvPr>
            <p:ph type="subTitle" idx="1"/>
          </p:nvPr>
        </p:nvSpPr>
        <p:spPr>
          <a:xfrm>
            <a:off x="1165396" y="451513"/>
            <a:ext cx="10653710" cy="5954974"/>
          </a:xfrm>
        </p:spPr>
        <p:txBody>
          <a:bodyPr/>
          <a:lstStyle/>
          <a:p>
            <a:endParaRPr lang="en-US" dirty="0"/>
          </a:p>
        </p:txBody>
      </p:sp>
      <p:sp>
        <p:nvSpPr>
          <p:cNvPr id="4" name="Slide Number Placeholder 3">
            <a:extLst>
              <a:ext uri="{FF2B5EF4-FFF2-40B4-BE49-F238E27FC236}">
                <a16:creationId xmlns:a16="http://schemas.microsoft.com/office/drawing/2014/main" id="{A8B60A1F-2522-6CBA-9E27-5BAB36D833E5}"/>
              </a:ext>
            </a:extLst>
          </p:cNvPr>
          <p:cNvSpPr>
            <a:spLocks noGrp="1"/>
          </p:cNvSpPr>
          <p:nvPr>
            <p:ph type="sldNum" sz="quarter" idx="12"/>
          </p:nvPr>
        </p:nvSpPr>
        <p:spPr/>
        <p:txBody>
          <a:bodyPr/>
          <a:lstStyle/>
          <a:p>
            <a:fld id="{D57F1E4F-1CFF-5643-939E-217C01CDF565}" type="slidenum">
              <a:rPr lang="en-US" smtClean="0"/>
              <a:pPr/>
              <a:t>11</a:t>
            </a:fld>
            <a:endParaRPr lang="en-US" dirty="0"/>
          </a:p>
        </p:txBody>
      </p:sp>
      <p:pic>
        <p:nvPicPr>
          <p:cNvPr id="6" name="Picture 5">
            <a:extLst>
              <a:ext uri="{FF2B5EF4-FFF2-40B4-BE49-F238E27FC236}">
                <a16:creationId xmlns:a16="http://schemas.microsoft.com/office/drawing/2014/main" id="{9771B32E-10B3-8828-2D93-FCC0E0EB7C44}"/>
              </a:ext>
            </a:extLst>
          </p:cNvPr>
          <p:cNvPicPr>
            <a:picLocks noChangeAspect="1"/>
          </p:cNvPicPr>
          <p:nvPr/>
        </p:nvPicPr>
        <p:blipFill>
          <a:blip r:embed="rId2"/>
          <a:stretch>
            <a:fillRect/>
          </a:stretch>
        </p:blipFill>
        <p:spPr>
          <a:xfrm>
            <a:off x="1079770" y="451513"/>
            <a:ext cx="10739335" cy="5954974"/>
          </a:xfrm>
          <a:prstGeom prst="rect">
            <a:avLst/>
          </a:prstGeom>
        </p:spPr>
      </p:pic>
    </p:spTree>
    <p:extLst>
      <p:ext uri="{BB962C8B-B14F-4D97-AF65-F5344CB8AC3E}">
        <p14:creationId xmlns:p14="http://schemas.microsoft.com/office/powerpoint/2010/main" val="911155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BA859-281B-BCD1-8639-44AF467E9899}"/>
              </a:ext>
            </a:extLst>
          </p:cNvPr>
          <p:cNvSpPr>
            <a:spLocks noGrp="1"/>
          </p:cNvSpPr>
          <p:nvPr>
            <p:ph type="title"/>
          </p:nvPr>
        </p:nvSpPr>
        <p:spPr>
          <a:xfrm>
            <a:off x="677334" y="609599"/>
            <a:ext cx="8855772" cy="3145278"/>
          </a:xfrm>
        </p:spPr>
        <p:txBody>
          <a:bodyPr>
            <a:normAutofit fontScale="90000"/>
          </a:bodyPr>
          <a:lstStyle/>
          <a:p>
            <a:r>
              <a:rPr lang="en-US" dirty="0">
                <a:solidFill>
                  <a:srgbClr val="FF0000"/>
                </a:solidFill>
                <a:latin typeface="Times New Roman" panose="02020603050405020304" pitchFamily="18" charset="0"/>
                <a:cs typeface="Times New Roman" panose="02020603050405020304" pitchFamily="18" charset="0"/>
              </a:rPr>
              <a:t>GitHub- </a:t>
            </a:r>
            <a:r>
              <a:rPr lang="en-US" dirty="0">
                <a:solidFill>
                  <a:srgbClr val="FF0000"/>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https://github.com/Prathmg/Healthcare-Analytics-for-Doctor-Visits</a:t>
            </a:r>
            <a:br>
              <a:rPr lang="en-US" dirty="0">
                <a:solidFill>
                  <a:schemeClr val="tx1"/>
                </a:solidFill>
                <a:latin typeface="Times New Roman" panose="02020603050405020304" pitchFamily="18" charset="0"/>
                <a:cs typeface="Times New Roman" panose="02020603050405020304" pitchFamily="18" charset="0"/>
              </a:rPr>
            </a:br>
            <a:br>
              <a:rPr lang="en-US" dirty="0">
                <a:solidFill>
                  <a:schemeClr val="tx1"/>
                </a:solidFill>
                <a:latin typeface="Times New Roman" panose="02020603050405020304" pitchFamily="18" charset="0"/>
                <a:cs typeface="Times New Roman" panose="02020603050405020304" pitchFamily="18" charset="0"/>
              </a:rPr>
            </a:br>
            <a:r>
              <a:rPr lang="en-US" dirty="0">
                <a:solidFill>
                  <a:srgbClr val="00B050"/>
                </a:solidFill>
                <a:latin typeface="Times New Roman" panose="02020603050405020304" pitchFamily="18" charset="0"/>
                <a:cs typeface="Times New Roman" panose="02020603050405020304" pitchFamily="18" charset="0"/>
              </a:rPr>
              <a:t>Student Name – Gangode Prathmesh Raghunath</a:t>
            </a:r>
            <a:br>
              <a:rPr lang="en-US" dirty="0">
                <a:solidFill>
                  <a:srgbClr val="00B050"/>
                </a:solidFill>
                <a:latin typeface="Times New Roman" panose="02020603050405020304" pitchFamily="18" charset="0"/>
                <a:cs typeface="Times New Roman" panose="02020603050405020304" pitchFamily="18" charset="0"/>
              </a:rPr>
            </a:br>
            <a:r>
              <a:rPr lang="en-US" dirty="0">
                <a:solidFill>
                  <a:srgbClr val="00B050"/>
                </a:solidFill>
                <a:latin typeface="Times New Roman" panose="02020603050405020304" pitchFamily="18" charset="0"/>
                <a:cs typeface="Times New Roman" panose="02020603050405020304" pitchFamily="18" charset="0"/>
              </a:rPr>
              <a:t> </a:t>
            </a:r>
            <a:br>
              <a:rPr lang="en-US" dirty="0">
                <a:solidFill>
                  <a:srgbClr val="00B050"/>
                </a:solidFill>
                <a:latin typeface="Times New Roman" panose="02020603050405020304" pitchFamily="18" charset="0"/>
                <a:cs typeface="Times New Roman" panose="02020603050405020304" pitchFamily="18" charset="0"/>
              </a:rPr>
            </a:br>
            <a:r>
              <a:rPr lang="en-US" dirty="0">
                <a:solidFill>
                  <a:srgbClr val="00B050"/>
                </a:solidFill>
                <a:latin typeface="Times New Roman" panose="02020603050405020304" pitchFamily="18" charset="0"/>
                <a:cs typeface="Times New Roman" panose="02020603050405020304" pitchFamily="18" charset="0"/>
              </a:rPr>
              <a:t>AICTE ID – STU68f9f4033b6691761211395</a:t>
            </a:r>
            <a:br>
              <a:rPr lang="en-US" dirty="0">
                <a:solidFill>
                  <a:srgbClr val="00B050"/>
                </a:solidFill>
              </a:rPr>
            </a:br>
            <a:br>
              <a:rPr lang="en-US" dirty="0"/>
            </a:br>
            <a:endParaRPr lang="en-US" dirty="0"/>
          </a:p>
        </p:txBody>
      </p:sp>
      <p:sp>
        <p:nvSpPr>
          <p:cNvPr id="3" name="Slide Number Placeholder 2">
            <a:extLst>
              <a:ext uri="{FF2B5EF4-FFF2-40B4-BE49-F238E27FC236}">
                <a16:creationId xmlns:a16="http://schemas.microsoft.com/office/drawing/2014/main" id="{D1122B85-964B-A16B-BB34-C5A1A0D83292}"/>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2284192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938874" y="1380411"/>
            <a:ext cx="8039756" cy="698939"/>
          </a:xfrm>
        </p:spPr>
        <p:txBody>
          <a:bodyPr>
            <a:normAutofit/>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583</TotalTime>
  <Words>261</Words>
  <Application>Microsoft Office PowerPoint</Application>
  <PresentationFormat>Widescreen</PresentationFormat>
  <Paragraphs>49</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Times New Roman</vt:lpstr>
      <vt:lpstr>Trebuchet MS</vt:lpstr>
      <vt:lpstr>Wingdings</vt:lpstr>
      <vt:lpstr>Wingdings 3</vt:lpstr>
      <vt:lpstr>Facet</vt:lpstr>
      <vt:lpstr>Project Title - Healthcare Analytics for Doctor Visits</vt:lpstr>
      <vt:lpstr>PROBLEM  STATEMENT</vt:lpstr>
      <vt:lpstr>Project Description  This project, Healthcare Analytics for Doctor Visits, analyzes a dataset containing, healthcare records and variables related to doctor visits, demographic information, health conditions, income, insurance coverage, and chronic conditions.   The project begins with data loading, cleaning, validation, and exploratory data analysis. Different visualizations are used to study the distribution of doctor visits and relationships between doctor visits, illness, insurance, and other healthcare variables.  </vt:lpstr>
      <vt:lpstr>WHO ARE THE END USERS?</vt:lpstr>
      <vt:lpstr>Technology Used</vt:lpstr>
      <vt:lpstr>RESULTS </vt:lpstr>
      <vt:lpstr>Results</vt:lpstr>
      <vt:lpstr>Results</vt:lpstr>
      <vt:lpstr>Results</vt:lpstr>
      <vt:lpstr>Results</vt:lpstr>
      <vt:lpstr>Results</vt:lpstr>
      <vt:lpstr>GitHub- https://github.com/Prathmg/Healthcare-Analytics-for-Doctor-Visits  Student Name – Gangode Prathmesh Raghunath   AICTE ID – STU68f9f4033b6691761211395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prathamesh gangode</cp:lastModifiedBy>
  <cp:revision>96</cp:revision>
  <dcterms:created xsi:type="dcterms:W3CDTF">2021-07-11T13:13:15Z</dcterms:created>
  <dcterms:modified xsi:type="dcterms:W3CDTF">2026-09-22T11:39:40Z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